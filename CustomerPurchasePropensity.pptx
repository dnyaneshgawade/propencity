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744" r:id="rId1"/>
  </p:sldMasterIdLst>
  <p:notesMasterIdLst>
    <p:notesMasterId r:id="rId16"/>
  </p:notesMasterIdLst>
  <p:sldIdLst>
    <p:sldId id="269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4630400" cy="8229600"/>
  <p:notesSz cx="8229600" cy="14630400"/>
  <p:embeddedFontLst>
    <p:embeddedFont>
      <p:font typeface="Century Gothic" panose="020B0502020202020204" pitchFamily="34" charset="0"/>
      <p:regular r:id="rId17"/>
      <p:bold r:id="rId18"/>
      <p:italic r:id="rId19"/>
      <p:boldItalic r:id="rId20"/>
    </p:embeddedFont>
    <p:embeddedFont>
      <p:font typeface="Crimson Pro Semi Bold" panose="020B0604020202020204" charset="0"/>
      <p:regular r:id="rId21"/>
    </p:embeddedFont>
    <p:embeddedFont>
      <p:font typeface="Garamond" panose="02020404030301010803" pitchFamily="18" charset="0"/>
      <p:regular r:id="rId22"/>
      <p:bold r:id="rId23"/>
      <p:italic r:id="rId24"/>
    </p:embeddedFont>
    <p:embeddedFont>
      <p:font typeface="Heebo" pitchFamily="2" charset="-79"/>
      <p:regular r:id="rId25"/>
      <p:bold r:id="rId2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5" d="100"/>
          <a:sy n="55" d="100"/>
        </p:scale>
        <p:origin x="65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26958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569444" y="1521276"/>
            <a:ext cx="11491514" cy="516954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737361" y="1693938"/>
            <a:ext cx="11155680" cy="4841724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6163056" y="1521276"/>
            <a:ext cx="2304288" cy="87782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6300216" y="1521277"/>
            <a:ext cx="2029968" cy="774354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4050" y="2509516"/>
            <a:ext cx="10882303" cy="310896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8640" b="0" kern="1200" cap="all" spc="-12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4520" y="5618475"/>
            <a:ext cx="10885018" cy="54864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920" spc="96" baseline="0">
                <a:solidFill>
                  <a:schemeClr val="tx1"/>
                </a:solidFill>
              </a:defRPr>
            </a:lvl1pPr>
            <a:lvl2pPr marL="548640" indent="0" algn="ctr">
              <a:buNone/>
              <a:defRPr sz="1920"/>
            </a:lvl2pPr>
            <a:lvl3pPr marL="1097280" indent="0" algn="ctr">
              <a:buNone/>
              <a:defRPr sz="192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6382512" y="1609506"/>
            <a:ext cx="1865376" cy="632656"/>
          </a:xfrm>
        </p:spPr>
        <p:txBody>
          <a:bodyPr/>
          <a:lstStyle>
            <a:lvl1pPr algn="ctr">
              <a:defRPr sz="156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5923F103-BC34-4FE4-A40E-EDDEECFDA5D0}" type="datetimeFigureOut">
              <a:rPr lang="en-US" smtClean="0"/>
              <a:pPr/>
              <a:t>1/17/2026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744675" y="6253272"/>
            <a:ext cx="7086600" cy="27432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10328304" y="6254496"/>
            <a:ext cx="2534257" cy="27432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06966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smtClean="0"/>
              <a:t>1/17/2026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491660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569444" y="1521276"/>
            <a:ext cx="11491514" cy="516954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737360" y="1693938"/>
            <a:ext cx="11155680" cy="4841724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6163056" y="1521276"/>
            <a:ext cx="2304288" cy="87782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6300216" y="1521277"/>
            <a:ext cx="2029968" cy="774354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6347" y="2513171"/>
            <a:ext cx="10885018" cy="310530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8640" kern="1200" cap="all" spc="-12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76349" y="5618474"/>
            <a:ext cx="10885018" cy="548640"/>
          </a:xfrm>
        </p:spPr>
        <p:txBody>
          <a:bodyPr anchor="t">
            <a:normAutofit/>
          </a:bodyPr>
          <a:lstStyle>
            <a:lvl1pPr marL="0" indent="0" algn="ctr">
              <a:buNone/>
              <a:defRPr sz="1920">
                <a:solidFill>
                  <a:schemeClr val="tx1"/>
                </a:solidFill>
                <a:effectLst/>
              </a:defRPr>
            </a:lvl1pPr>
            <a:lvl2pPr marL="5486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386170" y="1613403"/>
            <a:ext cx="1865376" cy="636422"/>
          </a:xfrm>
        </p:spPr>
        <p:txBody>
          <a:bodyPr/>
          <a:lstStyle>
            <a:lvl1pPr algn="ctr">
              <a:defRPr lang="en-US" sz="156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F34E6425-0181-43F2-84FC-787E803FD2F8}" type="datetimeFigureOut">
              <a:rPr lang="en-US" smtClean="0"/>
              <a:t>1/17/2026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44264" y="6253272"/>
            <a:ext cx="7088429" cy="27432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25405" y="6253272"/>
            <a:ext cx="2534717" cy="27432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1833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80160" y="2523744"/>
            <a:ext cx="5705856" cy="4498848"/>
          </a:xfrm>
        </p:spPr>
        <p:txBody>
          <a:bodyPr/>
          <a:lstStyle>
            <a:lvl1pPr>
              <a:defRPr sz="2160"/>
            </a:lvl1pPr>
            <a:lvl2pPr>
              <a:defRPr sz="1920"/>
            </a:lvl2pPr>
            <a:lvl3pPr>
              <a:defRPr sz="1680"/>
            </a:lvl3pPr>
            <a:lvl4pPr>
              <a:defRPr sz="1680"/>
            </a:lvl4pPr>
            <a:lvl5pPr>
              <a:defRPr sz="1680"/>
            </a:lvl5pPr>
            <a:lvl6pPr>
              <a:defRPr sz="1680"/>
            </a:lvl6pPr>
            <a:lvl7pPr>
              <a:defRPr sz="1680"/>
            </a:lvl7pPr>
            <a:lvl8pPr>
              <a:defRPr sz="1680"/>
            </a:lvl8pPr>
            <a:lvl9pPr>
              <a:defRPr sz="168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44384" y="2523744"/>
            <a:ext cx="5705856" cy="4498848"/>
          </a:xfrm>
        </p:spPr>
        <p:txBody>
          <a:bodyPr/>
          <a:lstStyle>
            <a:lvl1pPr>
              <a:defRPr sz="2160"/>
            </a:lvl1pPr>
            <a:lvl2pPr>
              <a:defRPr sz="1920"/>
            </a:lvl2pPr>
            <a:lvl3pPr>
              <a:defRPr sz="1680"/>
            </a:lvl3pPr>
            <a:lvl4pPr>
              <a:defRPr sz="1680"/>
            </a:lvl4pPr>
            <a:lvl5pPr>
              <a:defRPr sz="1680"/>
            </a:lvl5pPr>
            <a:lvl6pPr>
              <a:defRPr sz="1680"/>
            </a:lvl6pPr>
            <a:lvl7pPr>
              <a:defRPr sz="1680"/>
            </a:lvl7pPr>
            <a:lvl8pPr>
              <a:defRPr sz="1680"/>
            </a:lvl8pPr>
            <a:lvl9pPr>
              <a:defRPr sz="168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smtClean="0"/>
              <a:t>1/17/2026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533404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3818" y="2489201"/>
            <a:ext cx="5705856" cy="768096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2280" b="0">
                <a:solidFill>
                  <a:schemeClr val="tx2"/>
                </a:solidFill>
                <a:latin typeface="+mn-lt"/>
              </a:defRPr>
            </a:lvl1pPr>
            <a:lvl2pPr marL="548640" indent="0">
              <a:buNone/>
              <a:defRPr sz="228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83818" y="3307078"/>
            <a:ext cx="5705856" cy="3840480"/>
          </a:xfrm>
        </p:spPr>
        <p:txBody>
          <a:bodyPr/>
          <a:lstStyle>
            <a:lvl1pPr>
              <a:defRPr sz="2160"/>
            </a:lvl1pPr>
            <a:lvl2pPr>
              <a:defRPr sz="1920"/>
            </a:lvl2pPr>
            <a:lvl3pPr>
              <a:defRPr sz="1680"/>
            </a:lvl3pPr>
            <a:lvl4pPr>
              <a:defRPr sz="1680"/>
            </a:lvl4pPr>
            <a:lvl5pPr>
              <a:defRPr sz="1680"/>
            </a:lvl5pPr>
            <a:lvl6pPr>
              <a:defRPr sz="1680"/>
            </a:lvl6pPr>
            <a:lvl7pPr>
              <a:defRPr sz="1680"/>
            </a:lvl7pPr>
            <a:lvl8pPr>
              <a:defRPr sz="1680"/>
            </a:lvl8pPr>
            <a:lvl9pPr>
              <a:defRPr sz="168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48042" y="2489201"/>
            <a:ext cx="5705856" cy="768096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2280" b="0">
                <a:solidFill>
                  <a:schemeClr val="tx2"/>
                </a:solidFill>
              </a:defRPr>
            </a:lvl1pPr>
            <a:lvl2pPr marL="548640" indent="0">
              <a:buNone/>
              <a:defRPr sz="228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48042" y="3307897"/>
            <a:ext cx="5705856" cy="3840480"/>
          </a:xfrm>
        </p:spPr>
        <p:txBody>
          <a:bodyPr/>
          <a:lstStyle>
            <a:lvl1pPr>
              <a:defRPr sz="2160"/>
            </a:lvl1pPr>
            <a:lvl2pPr>
              <a:defRPr sz="1920"/>
            </a:lvl2pPr>
            <a:lvl3pPr>
              <a:defRPr sz="1680"/>
            </a:lvl3pPr>
            <a:lvl4pPr>
              <a:defRPr sz="1680"/>
            </a:lvl4pPr>
            <a:lvl5pPr>
              <a:defRPr sz="1680"/>
            </a:lvl5pPr>
            <a:lvl6pPr>
              <a:defRPr sz="1680"/>
            </a:lvl6pPr>
            <a:lvl7pPr>
              <a:defRPr sz="1680"/>
            </a:lvl7pPr>
            <a:lvl8pPr>
              <a:defRPr sz="1680"/>
            </a:lvl8pPr>
            <a:lvl9pPr>
              <a:defRPr sz="168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smtClean="0"/>
              <a:t>1/17/2026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454943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smtClean="0"/>
              <a:t>1/17/2026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870505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smtClean="0"/>
              <a:t>1/17/2026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48978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94635" y="285293"/>
            <a:ext cx="10237622" cy="765901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824463" y="285293"/>
            <a:ext cx="3511296" cy="765901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5680" y="728870"/>
            <a:ext cx="2916936" cy="1975104"/>
          </a:xfrm>
        </p:spPr>
        <p:txBody>
          <a:bodyPr anchor="b">
            <a:normAutofit/>
          </a:bodyPr>
          <a:lstStyle>
            <a:lvl1pPr algn="l" defTabSz="10972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36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731520"/>
            <a:ext cx="9326880" cy="6400800"/>
          </a:xfrm>
        </p:spPr>
        <p:txBody>
          <a:bodyPr/>
          <a:lstStyle>
            <a:lvl1pPr>
              <a:defRPr sz="2160"/>
            </a:lvl1pPr>
            <a:lvl2pPr>
              <a:defRPr sz="1920"/>
            </a:lvl2pPr>
            <a:lvl3pPr>
              <a:defRPr sz="1680"/>
            </a:lvl3pPr>
            <a:lvl4pPr>
              <a:defRPr sz="1680"/>
            </a:lvl4pPr>
            <a:lvl5pPr>
              <a:defRPr sz="1680"/>
            </a:lvl5pPr>
            <a:lvl6pPr>
              <a:defRPr sz="1680"/>
            </a:lvl6pPr>
            <a:lvl7pPr>
              <a:defRPr sz="1680"/>
            </a:lvl7pPr>
            <a:lvl8pPr>
              <a:defRPr sz="1680"/>
            </a:lvl8pPr>
            <a:lvl9pPr>
              <a:defRPr sz="168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0" y="2743200"/>
            <a:ext cx="2916936" cy="420624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960"/>
              </a:spcBef>
              <a:buNone/>
              <a:defRPr sz="1680">
                <a:solidFill>
                  <a:srgbClr val="FFFFFF"/>
                </a:solidFill>
              </a:defRPr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smtClean="0"/>
              <a:t>1/17/2026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2472412" y="7467602"/>
            <a:ext cx="1755648" cy="32918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10989055" y="449885"/>
            <a:ext cx="3182112" cy="7329830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99280654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824463" y="285293"/>
            <a:ext cx="3511296" cy="765901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5680" y="724205"/>
            <a:ext cx="2918765" cy="1975104"/>
          </a:xfrm>
        </p:spPr>
        <p:txBody>
          <a:bodyPr anchor="b">
            <a:noAutofit/>
          </a:bodyPr>
          <a:lstStyle>
            <a:lvl1pPr algn="l">
              <a:defRPr sz="336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74319" y="285293"/>
            <a:ext cx="10237622" cy="7659014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0" y="2743200"/>
            <a:ext cx="2918765" cy="420258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960"/>
              </a:spcBef>
              <a:buNone/>
              <a:defRPr sz="1680">
                <a:solidFill>
                  <a:srgbClr val="FFFFFF"/>
                </a:solidFill>
              </a:defRPr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35E72C73-2D91-4E12-BA25-F0AA0C03599B}" type="datetimeFigureOut">
              <a:rPr lang="en-US" smtClean="0"/>
              <a:t>1/17/2026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1097280" rtl="0" eaLnBrk="1" latinLnBrk="0" hangingPunct="1">
              <a:defRPr lang="en-US" sz="12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2476074" y="7472477"/>
            <a:ext cx="1755648" cy="32918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10989055" y="449885"/>
            <a:ext cx="3182112" cy="7329830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08386790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6D93-FCAC-47E0-A2EE-787E62CA814C}" type="datetimeFigureOut">
              <a:rPr lang="en-US" smtClean="0"/>
              <a:t>1/17/2026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42921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789920" y="914400"/>
            <a:ext cx="2834640" cy="63093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5840" y="914400"/>
            <a:ext cx="9692640" cy="630936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879A6-0FD0-4734-A311-86BFCA472E6E}" type="datetimeFigureOut">
              <a:rPr lang="en-US" smtClean="0"/>
              <a:t>1/17/2026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327295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79556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42675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28324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70328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07103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040227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133296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65317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492108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80791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472908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816381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48312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1635" y="285293"/>
            <a:ext cx="14067130" cy="7659014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80160" y="771113"/>
            <a:ext cx="12070080" cy="16459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0160" y="2523744"/>
            <a:ext cx="12070080" cy="47183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29184" y="7569206"/>
            <a:ext cx="3291840" cy="3291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2BE451C3-0FF4-47C4-B829-773ADF60F88C}" type="datetimeFigureOut">
              <a:rPr lang="en-US" smtClean="0"/>
              <a:t>1/17/2026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87952" y="7569206"/>
            <a:ext cx="6254496" cy="3291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563856" y="7569206"/>
            <a:ext cx="1755648" cy="3291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3323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  <p:sldLayoutId id="2147483760" r:id="rId16"/>
    <p:sldLayoutId id="2147483761" r:id="rId17"/>
    <p:sldLayoutId id="2147483762" r:id="rId18"/>
    <p:sldLayoutId id="2147483763" r:id="rId19"/>
    <p:sldLayoutId id="2147483764" r:id="rId20"/>
    <p:sldLayoutId id="2147483765" r:id="rId21"/>
    <p:sldLayoutId id="2147483766" r:id="rId22"/>
    <p:sldLayoutId id="2147483767" r:id="rId23"/>
    <p:sldLayoutId id="2147483768" r:id="rId24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lang="en-US" sz="576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219456" indent="-219456" algn="l" defTabSz="1097280" rtl="0" eaLnBrk="1" latinLnBrk="0" hangingPunct="1">
        <a:lnSpc>
          <a:spcPct val="100000"/>
        </a:lnSpc>
        <a:spcBef>
          <a:spcPts val="108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19456" algn="l" defTabSz="1097280" rtl="0" eaLnBrk="1" latinLnBrk="0" hangingPunct="1">
        <a:lnSpc>
          <a:spcPct val="100000"/>
        </a:lnSpc>
        <a:spcBef>
          <a:spcPts val="6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920" kern="1200">
          <a:solidFill>
            <a:schemeClr val="tx1"/>
          </a:solidFill>
          <a:latin typeface="+mn-lt"/>
          <a:ea typeface="+mn-ea"/>
          <a:cs typeface="+mn-cs"/>
        </a:defRPr>
      </a:lvl2pPr>
      <a:lvl3pPr marL="877824" indent="-219456" algn="l" defTabSz="1097280" rtl="0" eaLnBrk="1" latinLnBrk="0" hangingPunct="1">
        <a:lnSpc>
          <a:spcPct val="100000"/>
        </a:lnSpc>
        <a:spcBef>
          <a:spcPts val="6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80" kern="1200">
          <a:solidFill>
            <a:schemeClr val="tx1"/>
          </a:solidFill>
          <a:latin typeface="+mn-lt"/>
          <a:ea typeface="+mn-ea"/>
          <a:cs typeface="+mn-cs"/>
        </a:defRPr>
      </a:lvl3pPr>
      <a:lvl4pPr marL="1207008" indent="-219456" algn="l" defTabSz="1097280" rtl="0" eaLnBrk="1" latinLnBrk="0" hangingPunct="1">
        <a:lnSpc>
          <a:spcPct val="100000"/>
        </a:lnSpc>
        <a:spcBef>
          <a:spcPts val="6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80" kern="1200">
          <a:solidFill>
            <a:schemeClr val="tx1"/>
          </a:solidFill>
          <a:latin typeface="+mn-lt"/>
          <a:ea typeface="+mn-ea"/>
          <a:cs typeface="+mn-cs"/>
        </a:defRPr>
      </a:lvl4pPr>
      <a:lvl5pPr marL="1536192" indent="-219456" algn="l" defTabSz="1097280" rtl="0" eaLnBrk="1" latinLnBrk="0" hangingPunct="1">
        <a:lnSpc>
          <a:spcPct val="100000"/>
        </a:lnSpc>
        <a:spcBef>
          <a:spcPts val="6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80" kern="1200">
          <a:solidFill>
            <a:schemeClr val="tx1"/>
          </a:solidFill>
          <a:latin typeface="+mn-lt"/>
          <a:ea typeface="+mn-ea"/>
          <a:cs typeface="+mn-cs"/>
        </a:defRPr>
      </a:lvl5pPr>
      <a:lvl6pPr marL="1920000" indent="-274320" algn="l" defTabSz="1097280" rtl="0" eaLnBrk="1" latinLnBrk="0" hangingPunct="1">
        <a:lnSpc>
          <a:spcPct val="100000"/>
        </a:lnSpc>
        <a:spcBef>
          <a:spcPts val="6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80" kern="1200">
          <a:solidFill>
            <a:schemeClr val="tx1"/>
          </a:solidFill>
          <a:latin typeface="+mn-lt"/>
          <a:ea typeface="+mn-ea"/>
          <a:cs typeface="+mn-cs"/>
        </a:defRPr>
      </a:lvl6pPr>
      <a:lvl7pPr marL="2280000" indent="-274320" algn="l" defTabSz="1097280" rtl="0" eaLnBrk="1" latinLnBrk="0" hangingPunct="1">
        <a:lnSpc>
          <a:spcPct val="100000"/>
        </a:lnSpc>
        <a:spcBef>
          <a:spcPts val="6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80" kern="1200">
          <a:solidFill>
            <a:schemeClr val="tx1"/>
          </a:solidFill>
          <a:latin typeface="+mn-lt"/>
          <a:ea typeface="+mn-ea"/>
          <a:cs typeface="+mn-cs"/>
        </a:defRPr>
      </a:lvl7pPr>
      <a:lvl8pPr marL="2640000" indent="-274320" algn="l" defTabSz="1097280" rtl="0" eaLnBrk="1" latinLnBrk="0" hangingPunct="1">
        <a:lnSpc>
          <a:spcPct val="100000"/>
        </a:lnSpc>
        <a:spcBef>
          <a:spcPts val="6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80" kern="1200">
          <a:solidFill>
            <a:schemeClr val="tx1"/>
          </a:solidFill>
          <a:latin typeface="+mn-lt"/>
          <a:ea typeface="+mn-ea"/>
          <a:cs typeface="+mn-cs"/>
        </a:defRPr>
      </a:lvl8pPr>
      <a:lvl9pPr marL="3000000" indent="-274320" algn="l" defTabSz="1097280" rtl="0" eaLnBrk="1" latinLnBrk="0" hangingPunct="1">
        <a:lnSpc>
          <a:spcPct val="100000"/>
        </a:lnSpc>
        <a:spcBef>
          <a:spcPts val="6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10" Type="http://schemas.openxmlformats.org/officeDocument/2006/relationships/image" Target="../media/image26.svg"/><Relationship Id="rId4" Type="http://schemas.openxmlformats.org/officeDocument/2006/relationships/image" Target="../media/image20.svg"/><Relationship Id="rId9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7408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89213" y="870028"/>
            <a:ext cx="924829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Customer Purchase Propensity Analysis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467695"/>
            <a:ext cx="4196358" cy="2456617"/>
          </a:xfrm>
          <a:prstGeom prst="roundRect">
            <a:avLst>
              <a:gd name="adj" fmla="val 5956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310" y="3467695"/>
            <a:ext cx="121920" cy="2456617"/>
          </a:xfrm>
          <a:prstGeom prst="roundRect">
            <a:avLst>
              <a:gd name="adj" fmla="val 27907"/>
            </a:avLst>
          </a:prstGeom>
          <a:solidFill>
            <a:srgbClr val="2150FE"/>
          </a:solidFill>
          <a:ln/>
        </p:spPr>
      </p:sp>
      <p:sp>
        <p:nvSpPr>
          <p:cNvPr id="5" name="Text 3"/>
          <p:cNvSpPr/>
          <p:nvPr/>
        </p:nvSpPr>
        <p:spPr>
          <a:xfrm>
            <a:off x="1142524" y="372498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Strategic Objective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2524" y="4215408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Leverage advanced analytics to precisely understand and predict customer purchasing behavior.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216962" y="3467695"/>
            <a:ext cx="4196358" cy="2456617"/>
          </a:xfrm>
          <a:prstGeom prst="roundRect">
            <a:avLst>
              <a:gd name="adj" fmla="val 5956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86482" y="3467695"/>
            <a:ext cx="121920" cy="2456617"/>
          </a:xfrm>
          <a:prstGeom prst="roundRect">
            <a:avLst>
              <a:gd name="adj" fmla="val 27907"/>
            </a:avLst>
          </a:prstGeom>
          <a:solidFill>
            <a:srgbClr val="2150FE"/>
          </a:solidFill>
          <a:ln/>
        </p:spPr>
      </p:sp>
      <p:sp>
        <p:nvSpPr>
          <p:cNvPr id="9" name="Text 7"/>
          <p:cNvSpPr/>
          <p:nvPr/>
        </p:nvSpPr>
        <p:spPr>
          <a:xfrm>
            <a:off x="5565696" y="372498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Key Focus Area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565696" y="4215408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Driving impactful insights specifically for the retail and e-commerce sectors.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9640133" y="3467695"/>
            <a:ext cx="4196358" cy="2456617"/>
          </a:xfrm>
          <a:prstGeom prst="roundRect">
            <a:avLst>
              <a:gd name="adj" fmla="val 5956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09653" y="3467695"/>
            <a:ext cx="121920" cy="2456617"/>
          </a:xfrm>
          <a:prstGeom prst="roundRect">
            <a:avLst>
              <a:gd name="adj" fmla="val 27907"/>
            </a:avLst>
          </a:prstGeom>
          <a:solidFill>
            <a:srgbClr val="2150FE"/>
          </a:solidFill>
          <a:ln/>
        </p:spPr>
      </p:sp>
      <p:sp>
        <p:nvSpPr>
          <p:cNvPr id="13" name="Text 11"/>
          <p:cNvSpPr/>
          <p:nvPr/>
        </p:nvSpPr>
        <p:spPr>
          <a:xfrm>
            <a:off x="9988868" y="372498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Expected Outcome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988868" y="4215408"/>
            <a:ext cx="35903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Deliver data-driven, actionable recommendations to optimize marketing and customer retention strategies.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0957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Business Problem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471982"/>
            <a:ext cx="4196358" cy="2448044"/>
          </a:xfrm>
          <a:prstGeom prst="roundRect">
            <a:avLst>
              <a:gd name="adj" fmla="val 5976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310" y="3471982"/>
            <a:ext cx="121920" cy="2448044"/>
          </a:xfrm>
          <a:prstGeom prst="roundRect">
            <a:avLst>
              <a:gd name="adj" fmla="val 27907"/>
            </a:avLst>
          </a:prstGeom>
          <a:solidFill>
            <a:srgbClr val="2150FE"/>
          </a:solidFill>
          <a:ln/>
        </p:spPr>
      </p:sp>
      <p:sp>
        <p:nvSpPr>
          <p:cNvPr id="5" name="Text 3"/>
          <p:cNvSpPr/>
          <p:nvPr/>
        </p:nvSpPr>
        <p:spPr>
          <a:xfrm>
            <a:off x="1142524" y="3729276"/>
            <a:ext cx="35903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Inaccurate Repurchase Prediction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2524" y="4574024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Retailers struggle to precisely identify customers most likely to make future purchases.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216962" y="3471982"/>
            <a:ext cx="4196358" cy="2448044"/>
          </a:xfrm>
          <a:prstGeom prst="roundRect">
            <a:avLst>
              <a:gd name="adj" fmla="val 5976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86482" y="3471982"/>
            <a:ext cx="121920" cy="2448044"/>
          </a:xfrm>
          <a:prstGeom prst="roundRect">
            <a:avLst>
              <a:gd name="adj" fmla="val 27907"/>
            </a:avLst>
          </a:prstGeom>
          <a:solidFill>
            <a:srgbClr val="2150FE"/>
          </a:solidFill>
          <a:ln/>
        </p:spPr>
      </p:sp>
      <p:sp>
        <p:nvSpPr>
          <p:cNvPr id="9" name="Text 7"/>
          <p:cNvSpPr/>
          <p:nvPr/>
        </p:nvSpPr>
        <p:spPr>
          <a:xfrm>
            <a:off x="5565696" y="3729276"/>
            <a:ext cx="338363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Inefficient Marketing Spend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565696" y="4219694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Generic marketing campaigns result in low return on investment and customer fatigue.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9640133" y="3471982"/>
            <a:ext cx="4196358" cy="2448044"/>
          </a:xfrm>
          <a:prstGeom prst="roundRect">
            <a:avLst>
              <a:gd name="adj" fmla="val 5976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09653" y="3471982"/>
            <a:ext cx="121920" cy="2448044"/>
          </a:xfrm>
          <a:prstGeom prst="roundRect">
            <a:avLst>
              <a:gd name="adj" fmla="val 27907"/>
            </a:avLst>
          </a:prstGeom>
          <a:solidFill>
            <a:srgbClr val="2150FE"/>
          </a:solidFill>
          <a:ln/>
        </p:spPr>
      </p:sp>
      <p:sp>
        <p:nvSpPr>
          <p:cNvPr id="13" name="Text 11"/>
          <p:cNvSpPr/>
          <p:nvPr/>
        </p:nvSpPr>
        <p:spPr>
          <a:xfrm>
            <a:off x="9988868" y="3729276"/>
            <a:ext cx="35903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Absence of Targeted Engagement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988868" y="4574024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Lack of data-driven segmentation hinders the creation of personalized customer strategies.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42506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Dataset Overview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58747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Source:</a:t>
            </a: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Online Retail Transaction Data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20552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Timeframe:</a:t>
            </a: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2009 – 2011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82357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Volume:</a:t>
            </a: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Over 1 Million Transactions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44163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Key Features:</a:t>
            </a: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Invoice, Quantity, Price, Date, Customer ID, Country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39535"/>
            <a:ext cx="567094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Critical Data Challenges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542103"/>
            <a:ext cx="6407944" cy="2040493"/>
          </a:xfrm>
          <a:prstGeom prst="roundRect">
            <a:avLst>
              <a:gd name="adj" fmla="val 7170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793790" y="2511623"/>
            <a:ext cx="6407944" cy="121920"/>
          </a:xfrm>
          <a:prstGeom prst="roundRect">
            <a:avLst>
              <a:gd name="adj" fmla="val 27907"/>
            </a:avLst>
          </a:prstGeom>
          <a:solidFill>
            <a:srgbClr val="2150FE"/>
          </a:solidFill>
          <a:ln/>
        </p:spPr>
      </p:sp>
      <p:sp>
        <p:nvSpPr>
          <p:cNvPr id="5" name="Shape 3"/>
          <p:cNvSpPr/>
          <p:nvPr/>
        </p:nvSpPr>
        <p:spPr>
          <a:xfrm>
            <a:off x="3657540" y="2201942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2150FE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61614" y="2406015"/>
            <a:ext cx="272177" cy="27217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084" y="3109079"/>
            <a:ext cx="316218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Incomplete Customer Data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51084" y="3599497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Missing customer IDs impede effective segmentation and personalized marketing initiatives.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7428548" y="2542103"/>
            <a:ext cx="6408063" cy="2040493"/>
          </a:xfrm>
          <a:prstGeom prst="roundRect">
            <a:avLst>
              <a:gd name="adj" fmla="val 7170"/>
            </a:avLst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7428548" y="2511623"/>
            <a:ext cx="6408063" cy="121920"/>
          </a:xfrm>
          <a:prstGeom prst="roundRect">
            <a:avLst>
              <a:gd name="adj" fmla="val 27907"/>
            </a:avLst>
          </a:prstGeom>
          <a:solidFill>
            <a:srgbClr val="2150FE"/>
          </a:solidFill>
          <a:ln/>
        </p:spPr>
      </p:sp>
      <p:sp>
        <p:nvSpPr>
          <p:cNvPr id="11" name="Shape 8"/>
          <p:cNvSpPr/>
          <p:nvPr/>
        </p:nvSpPr>
        <p:spPr>
          <a:xfrm>
            <a:off x="10292298" y="2201942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2150FE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96371" y="2406015"/>
            <a:ext cx="272177" cy="27217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685842" y="31090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Negative Quantities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7685842" y="3599497"/>
            <a:ext cx="589347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Inconsistent recording of returns as negative quantities introduces data integrity and reconciliation complexities.</a:t>
            </a:r>
            <a:endParaRPr lang="en-US" sz="1750" dirty="0"/>
          </a:p>
        </p:txBody>
      </p:sp>
      <p:sp>
        <p:nvSpPr>
          <p:cNvPr id="15" name="Shape 11"/>
          <p:cNvSpPr/>
          <p:nvPr/>
        </p:nvSpPr>
        <p:spPr>
          <a:xfrm>
            <a:off x="793790" y="5149572"/>
            <a:ext cx="6407944" cy="2040493"/>
          </a:xfrm>
          <a:prstGeom prst="roundRect">
            <a:avLst>
              <a:gd name="adj" fmla="val 7170"/>
            </a:avLst>
          </a:prstGeom>
          <a:solidFill>
            <a:srgbClr val="FFFFFF"/>
          </a:solidFill>
          <a:ln/>
        </p:spPr>
      </p:sp>
      <p:sp>
        <p:nvSpPr>
          <p:cNvPr id="16" name="Shape 12"/>
          <p:cNvSpPr/>
          <p:nvPr/>
        </p:nvSpPr>
        <p:spPr>
          <a:xfrm>
            <a:off x="793790" y="5119092"/>
            <a:ext cx="6407944" cy="121920"/>
          </a:xfrm>
          <a:prstGeom prst="roundRect">
            <a:avLst>
              <a:gd name="adj" fmla="val 27907"/>
            </a:avLst>
          </a:prstGeom>
          <a:solidFill>
            <a:srgbClr val="2150FE"/>
          </a:solidFill>
          <a:ln/>
        </p:spPr>
      </p:sp>
      <p:sp>
        <p:nvSpPr>
          <p:cNvPr id="17" name="Shape 13"/>
          <p:cNvSpPr/>
          <p:nvPr/>
        </p:nvSpPr>
        <p:spPr>
          <a:xfrm>
            <a:off x="3657540" y="4809411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2150FE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861614" y="5013484"/>
            <a:ext cx="272177" cy="27217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51084" y="57165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Duplicate Invoices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1051084" y="6206966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Presence of duplicate invoices artificially inflates transaction volumes and distorts sales reporting.</a:t>
            </a:r>
            <a:endParaRPr lang="en-US" sz="1750" dirty="0"/>
          </a:p>
        </p:txBody>
      </p:sp>
      <p:sp>
        <p:nvSpPr>
          <p:cNvPr id="21" name="Shape 16"/>
          <p:cNvSpPr/>
          <p:nvPr/>
        </p:nvSpPr>
        <p:spPr>
          <a:xfrm>
            <a:off x="7428548" y="5149572"/>
            <a:ext cx="6408063" cy="2040493"/>
          </a:xfrm>
          <a:prstGeom prst="roundRect">
            <a:avLst>
              <a:gd name="adj" fmla="val 7170"/>
            </a:avLst>
          </a:prstGeom>
          <a:solidFill>
            <a:srgbClr val="FFFFFF"/>
          </a:solidFill>
          <a:ln/>
        </p:spPr>
      </p:sp>
      <p:sp>
        <p:nvSpPr>
          <p:cNvPr id="22" name="Shape 17"/>
          <p:cNvSpPr/>
          <p:nvPr/>
        </p:nvSpPr>
        <p:spPr>
          <a:xfrm>
            <a:off x="7428548" y="5119092"/>
            <a:ext cx="6408063" cy="121920"/>
          </a:xfrm>
          <a:prstGeom prst="roundRect">
            <a:avLst>
              <a:gd name="adj" fmla="val 27907"/>
            </a:avLst>
          </a:prstGeom>
          <a:solidFill>
            <a:srgbClr val="2150FE"/>
          </a:solidFill>
          <a:ln/>
        </p:spPr>
      </p:sp>
      <p:sp>
        <p:nvSpPr>
          <p:cNvPr id="23" name="Shape 18"/>
          <p:cNvSpPr/>
          <p:nvPr/>
        </p:nvSpPr>
        <p:spPr>
          <a:xfrm>
            <a:off x="10292298" y="4809411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2150FE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496371" y="5013484"/>
            <a:ext cx="272177" cy="272177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685842" y="57165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Anomalous Values</a:t>
            </a:r>
            <a:endParaRPr lang="en-US" sz="2200" dirty="0"/>
          </a:p>
        </p:txBody>
      </p:sp>
      <p:sp>
        <p:nvSpPr>
          <p:cNvPr id="26" name="Text 20"/>
          <p:cNvSpPr/>
          <p:nvPr/>
        </p:nvSpPr>
        <p:spPr>
          <a:xfrm>
            <a:off x="7685842" y="6206966"/>
            <a:ext cx="589347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Significant outliers in price and quantity metrics can skew analytical results and impact predictive models.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23142"/>
            <a:ext cx="724340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Data Cleaning &amp; Preprocessing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485549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840593"/>
            <a:ext cx="6407944" cy="3048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014901"/>
            <a:ext cx="419219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Eliminated Cancelled Transactions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505319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Systematically removed all voided or cancelled records to ensure data integrity and accuracy in financial reporting.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428548" y="2485549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8548" y="2840593"/>
            <a:ext cx="6408063" cy="3048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9" name="Text 7"/>
          <p:cNvSpPr/>
          <p:nvPr/>
        </p:nvSpPr>
        <p:spPr>
          <a:xfrm>
            <a:off x="7428548" y="3014901"/>
            <a:ext cx="360914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Rectified Data Inconsistencies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428548" y="3505319"/>
            <a:ext cx="64080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Addressed missing values through imputation and corrected invalid entries, significantly enhancing data reliability.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93790" y="4627959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4983004"/>
            <a:ext cx="6407944" cy="3048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13" name="Text 11"/>
          <p:cNvSpPr/>
          <p:nvPr/>
        </p:nvSpPr>
        <p:spPr>
          <a:xfrm>
            <a:off x="793790" y="5157311"/>
            <a:ext cx="364045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Standardized Date Formatting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93790" y="5647730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Uniformly converted all invoice dates to a consistent datetime format, enabling robust temporal analysis.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428548" y="4627959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428548" y="4983004"/>
            <a:ext cx="6408063" cy="3048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17" name="Text 15"/>
          <p:cNvSpPr/>
          <p:nvPr/>
        </p:nvSpPr>
        <p:spPr>
          <a:xfrm>
            <a:off x="7428548" y="5157311"/>
            <a:ext cx="308586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Isolated Key Transactions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428548" y="5647730"/>
            <a:ext cx="640806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Applied rigorous filtering criteria to focus exclusively on meaningful transactions, optimizing data relevance for strategic insights.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11956"/>
            <a:ext cx="6105644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Exploratory Data Analysis (EDA)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793790" y="3169206"/>
            <a:ext cx="6448782" cy="1301591"/>
          </a:xfrm>
          <a:prstGeom prst="roundRect">
            <a:avLst>
              <a:gd name="adj" fmla="val 8430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0930" y="3169206"/>
            <a:ext cx="91440" cy="1301591"/>
          </a:xfrm>
          <a:prstGeom prst="roundRect">
            <a:avLst>
              <a:gd name="adj" fmla="val 29767"/>
            </a:avLst>
          </a:prstGeom>
          <a:solidFill>
            <a:srgbClr val="2150FE"/>
          </a:solidFill>
          <a:ln/>
        </p:spPr>
      </p:sp>
      <p:sp>
        <p:nvSpPr>
          <p:cNvPr id="5" name="Text 3"/>
          <p:cNvSpPr/>
          <p:nvPr/>
        </p:nvSpPr>
        <p:spPr>
          <a:xfrm>
            <a:off x="1066681" y="3373517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Key Market Drivers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1066681" y="3744039"/>
            <a:ext cx="5971580" cy="52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Identified top-performing products and high-potential geographic markets, informing strategic focus.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87709" y="3169206"/>
            <a:ext cx="6448901" cy="1301591"/>
          </a:xfrm>
          <a:prstGeom prst="roundRect">
            <a:avLst>
              <a:gd name="adj" fmla="val 8430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64849" y="3169206"/>
            <a:ext cx="91440" cy="1301591"/>
          </a:xfrm>
          <a:prstGeom prst="roundRect">
            <a:avLst>
              <a:gd name="adj" fmla="val 29767"/>
            </a:avLst>
          </a:prstGeom>
          <a:solidFill>
            <a:srgbClr val="2150FE"/>
          </a:solidFill>
          <a:ln/>
        </p:spPr>
      </p:sp>
      <p:sp>
        <p:nvSpPr>
          <p:cNvPr id="9" name="Text 7"/>
          <p:cNvSpPr/>
          <p:nvPr/>
        </p:nvSpPr>
        <p:spPr>
          <a:xfrm>
            <a:off x="7660600" y="3373517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Sales Trend Insights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660600" y="3744039"/>
            <a:ext cx="5971699" cy="52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Uncovered significant monthly and annual sales patterns, crucial for accurate forecasting and resource allocation.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93790" y="4615934"/>
            <a:ext cx="6448782" cy="1301591"/>
          </a:xfrm>
          <a:prstGeom prst="roundRect">
            <a:avLst>
              <a:gd name="adj" fmla="val 8430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0930" y="4615934"/>
            <a:ext cx="91440" cy="1301591"/>
          </a:xfrm>
          <a:prstGeom prst="roundRect">
            <a:avLst>
              <a:gd name="adj" fmla="val 29767"/>
            </a:avLst>
          </a:prstGeom>
          <a:solidFill>
            <a:srgbClr val="2150FE"/>
          </a:solidFill>
          <a:ln/>
        </p:spPr>
      </p:sp>
      <p:sp>
        <p:nvSpPr>
          <p:cNvPr id="13" name="Text 11"/>
          <p:cNvSpPr/>
          <p:nvPr/>
        </p:nvSpPr>
        <p:spPr>
          <a:xfrm>
            <a:off x="1066681" y="4820245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Seasonal Demand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1066681" y="5190768"/>
            <a:ext cx="5971580" cy="52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Confirmed strong seasonality in purchasing behavior, enabling optimized inventory and marketing campaign timing.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87709" y="4615934"/>
            <a:ext cx="6448901" cy="1301591"/>
          </a:xfrm>
          <a:prstGeom prst="roundRect">
            <a:avLst>
              <a:gd name="adj" fmla="val 8430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64849" y="4615934"/>
            <a:ext cx="91440" cy="1301591"/>
          </a:xfrm>
          <a:prstGeom prst="roundRect">
            <a:avLst>
              <a:gd name="adj" fmla="val 29767"/>
            </a:avLst>
          </a:prstGeom>
          <a:solidFill>
            <a:srgbClr val="2150FE"/>
          </a:solidFill>
          <a:ln/>
        </p:spPr>
      </p:sp>
      <p:sp>
        <p:nvSpPr>
          <p:cNvPr id="17" name="Text 15"/>
          <p:cNvSpPr/>
          <p:nvPr/>
        </p:nvSpPr>
        <p:spPr>
          <a:xfrm>
            <a:off x="7660600" y="4820245"/>
            <a:ext cx="3166705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Customer Revenue Concentration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7660600" y="5190768"/>
            <a:ext cx="5971699" cy="52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Highlighted a substantial concentration of revenue among a select group of high-value customers, indicating potential risks and opportunities.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32353"/>
            <a:ext cx="10326291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Feature Engineering: Driving Predictive Power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793790" y="1815108"/>
            <a:ext cx="6419017" cy="2738676"/>
          </a:xfrm>
          <a:prstGeom prst="roundRect">
            <a:avLst>
              <a:gd name="adj" fmla="val 1180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4270" y="1845588"/>
            <a:ext cx="6358057" cy="646390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5" name="Shape 3"/>
          <p:cNvSpPr/>
          <p:nvPr/>
        </p:nvSpPr>
        <p:spPr>
          <a:xfrm>
            <a:off x="1039654" y="2696647"/>
            <a:ext cx="2276356" cy="397907"/>
          </a:xfrm>
          <a:prstGeom prst="roundRect">
            <a:avLst>
              <a:gd name="adj" fmla="val 6499"/>
            </a:avLst>
          </a:prstGeom>
          <a:solidFill>
            <a:srgbClr val="CCD7F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8837" y="2809399"/>
            <a:ext cx="172283" cy="1722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27202" y="2761178"/>
            <a:ext cx="1759625" cy="268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CUSTOMER BEHAVIOR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039654" y="3176349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Detailed Aggregation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039654" y="3635693"/>
            <a:ext cx="5927288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Consolidating customer interactions and attributes at a granular level to build comprehensive profiles.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7417475" y="1815108"/>
            <a:ext cx="6419136" cy="2738676"/>
          </a:xfrm>
          <a:prstGeom prst="roundRect">
            <a:avLst>
              <a:gd name="adj" fmla="val 1180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447955" y="1845588"/>
            <a:ext cx="6358176" cy="646390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2" name="Shape 9"/>
          <p:cNvSpPr/>
          <p:nvPr/>
        </p:nvSpPr>
        <p:spPr>
          <a:xfrm>
            <a:off x="7663339" y="2696647"/>
            <a:ext cx="2415064" cy="397907"/>
          </a:xfrm>
          <a:prstGeom prst="roundRect">
            <a:avLst>
              <a:gd name="adj" fmla="val 6499"/>
            </a:avLst>
          </a:prstGeom>
          <a:solidFill>
            <a:srgbClr val="CCD7FF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92522" y="2809399"/>
            <a:ext cx="172283" cy="17228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050887" y="2761178"/>
            <a:ext cx="1898333" cy="268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ENGAGEMENT METRICS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7663339" y="3176349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Purchase Frequency</a:t>
            </a:r>
            <a:endParaRPr lang="en-US" sz="2100" dirty="0"/>
          </a:p>
        </p:txBody>
      </p:sp>
      <p:sp>
        <p:nvSpPr>
          <p:cNvPr id="16" name="Text 12"/>
          <p:cNvSpPr/>
          <p:nvPr/>
        </p:nvSpPr>
        <p:spPr>
          <a:xfrm>
            <a:off x="7663339" y="3635693"/>
            <a:ext cx="5927407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Analyzing the regularity of transactions to identify active customer segments and predict future engagement.</a:t>
            </a:r>
            <a:endParaRPr lang="en-US" sz="1650" dirty="0"/>
          </a:p>
        </p:txBody>
      </p:sp>
      <p:sp>
        <p:nvSpPr>
          <p:cNvPr id="17" name="Shape 13"/>
          <p:cNvSpPr/>
          <p:nvPr/>
        </p:nvSpPr>
        <p:spPr>
          <a:xfrm>
            <a:off x="793790" y="4758452"/>
            <a:ext cx="6419017" cy="2738676"/>
          </a:xfrm>
          <a:prstGeom prst="roundRect">
            <a:avLst>
              <a:gd name="adj" fmla="val 1180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24270" y="4788932"/>
            <a:ext cx="6358057" cy="646390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9" name="Shape 15"/>
          <p:cNvSpPr/>
          <p:nvPr/>
        </p:nvSpPr>
        <p:spPr>
          <a:xfrm>
            <a:off x="1039654" y="5639991"/>
            <a:ext cx="2041088" cy="397907"/>
          </a:xfrm>
          <a:prstGeom prst="roundRect">
            <a:avLst>
              <a:gd name="adj" fmla="val 6499"/>
            </a:avLst>
          </a:prstGeom>
          <a:solidFill>
            <a:srgbClr val="CCD7FF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68837" y="5752743"/>
            <a:ext cx="172283" cy="172283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427202" y="5704523"/>
            <a:ext cx="1524357" cy="268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FINANCIAL IMPACT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1039654" y="6119693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Revenue Contribution</a:t>
            </a:r>
            <a:endParaRPr lang="en-US" sz="2100" dirty="0"/>
          </a:p>
        </p:txBody>
      </p:sp>
      <p:sp>
        <p:nvSpPr>
          <p:cNvPr id="23" name="Text 18"/>
          <p:cNvSpPr/>
          <p:nvPr/>
        </p:nvSpPr>
        <p:spPr>
          <a:xfrm>
            <a:off x="1039654" y="6579037"/>
            <a:ext cx="5927288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Quantifying the monetary value each customer brings, enabling targeted strategies for high-value segments.</a:t>
            </a:r>
            <a:endParaRPr lang="en-US" sz="1650" dirty="0"/>
          </a:p>
        </p:txBody>
      </p:sp>
      <p:sp>
        <p:nvSpPr>
          <p:cNvPr id="24" name="Shape 19"/>
          <p:cNvSpPr/>
          <p:nvPr/>
        </p:nvSpPr>
        <p:spPr>
          <a:xfrm>
            <a:off x="7417475" y="4758452"/>
            <a:ext cx="6419136" cy="2738676"/>
          </a:xfrm>
          <a:prstGeom prst="roundRect">
            <a:avLst>
              <a:gd name="adj" fmla="val 1180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7447955" y="4788932"/>
            <a:ext cx="6358176" cy="646390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26" name="Shape 21"/>
          <p:cNvSpPr/>
          <p:nvPr/>
        </p:nvSpPr>
        <p:spPr>
          <a:xfrm>
            <a:off x="7663339" y="5639991"/>
            <a:ext cx="2093238" cy="397907"/>
          </a:xfrm>
          <a:prstGeom prst="roundRect">
            <a:avLst>
              <a:gd name="adj" fmla="val 6499"/>
            </a:avLst>
          </a:prstGeom>
          <a:solidFill>
            <a:srgbClr val="CCD7FF"/>
          </a:solidFill>
          <a:ln/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792522" y="5752743"/>
            <a:ext cx="172283" cy="172283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8050887" y="5704523"/>
            <a:ext cx="1576507" cy="268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VALUE PATTERNING</a:t>
            </a:r>
            <a:endParaRPr lang="en-US" sz="1350" dirty="0"/>
          </a:p>
        </p:txBody>
      </p:sp>
      <p:sp>
        <p:nvSpPr>
          <p:cNvPr id="29" name="Text 23"/>
          <p:cNvSpPr/>
          <p:nvPr/>
        </p:nvSpPr>
        <p:spPr>
          <a:xfrm>
            <a:off x="7663339" y="6119693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Recency &amp; Monetary</a:t>
            </a:r>
            <a:endParaRPr lang="en-US" sz="2100" dirty="0"/>
          </a:p>
        </p:txBody>
      </p:sp>
      <p:sp>
        <p:nvSpPr>
          <p:cNvPr id="30" name="Text 24"/>
          <p:cNvSpPr/>
          <p:nvPr/>
        </p:nvSpPr>
        <p:spPr>
          <a:xfrm>
            <a:off x="7663339" y="6579037"/>
            <a:ext cx="5927407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Extracting critical patterns from recent activities and spending habits to inform customer lifetime value models.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425660"/>
            <a:ext cx="6207085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Customer Behavior Insights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793790" y="3508415"/>
            <a:ext cx="4211122" cy="2295525"/>
          </a:xfrm>
          <a:prstGeom prst="roundRect">
            <a:avLst>
              <a:gd name="adj" fmla="val 6373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310" y="3508415"/>
            <a:ext cx="121920" cy="2295525"/>
          </a:xfrm>
          <a:prstGeom prst="roundRect">
            <a:avLst>
              <a:gd name="adj" fmla="val 26512"/>
            </a:avLst>
          </a:prstGeom>
          <a:solidFill>
            <a:srgbClr val="2150FE"/>
          </a:solidFill>
          <a:ln/>
        </p:spPr>
      </p:sp>
      <p:sp>
        <p:nvSpPr>
          <p:cNvPr id="5" name="Text 3"/>
          <p:cNvSpPr/>
          <p:nvPr/>
        </p:nvSpPr>
        <p:spPr>
          <a:xfrm>
            <a:off x="1131094" y="3754279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Revenue Drivers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131094" y="4213622"/>
            <a:ext cx="3627953" cy="1344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critical minority of customers generates the </a:t>
            </a:r>
            <a:r>
              <a:rPr lang="en-US" sz="16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majority of our revenue</a:t>
            </a:r>
            <a:r>
              <a:rPr lang="en-US" sz="1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indicating a concentrated value base.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5209580" y="3508415"/>
            <a:ext cx="4211122" cy="2295525"/>
          </a:xfrm>
          <a:prstGeom prst="roundRect">
            <a:avLst>
              <a:gd name="adj" fmla="val 6373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79100" y="3508415"/>
            <a:ext cx="121920" cy="2295525"/>
          </a:xfrm>
          <a:prstGeom prst="roundRect">
            <a:avLst>
              <a:gd name="adj" fmla="val 26512"/>
            </a:avLst>
          </a:prstGeom>
          <a:solidFill>
            <a:srgbClr val="2150FE"/>
          </a:solidFill>
          <a:ln/>
        </p:spPr>
      </p:sp>
      <p:sp>
        <p:nvSpPr>
          <p:cNvPr id="9" name="Text 7"/>
          <p:cNvSpPr/>
          <p:nvPr/>
        </p:nvSpPr>
        <p:spPr>
          <a:xfrm>
            <a:off x="5546884" y="3754279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Repeat Buyer Behavior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5546884" y="4213622"/>
            <a:ext cx="3627953" cy="1344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Repeat purchasers exhibit </a:t>
            </a:r>
            <a:r>
              <a:rPr lang="en-US" sz="16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consistent and predictable purchasing cycles</a:t>
            </a:r>
            <a:r>
              <a:rPr lang="en-US" sz="1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offering clear opportunities for re-engagement.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9625370" y="3508415"/>
            <a:ext cx="4211122" cy="2295525"/>
          </a:xfrm>
          <a:prstGeom prst="roundRect">
            <a:avLst>
              <a:gd name="adj" fmla="val 6373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94890" y="3508415"/>
            <a:ext cx="121920" cy="2295525"/>
          </a:xfrm>
          <a:prstGeom prst="roundRect">
            <a:avLst>
              <a:gd name="adj" fmla="val 26512"/>
            </a:avLst>
          </a:prstGeom>
          <a:solidFill>
            <a:srgbClr val="2150FE"/>
          </a:solidFill>
          <a:ln/>
        </p:spPr>
      </p:sp>
      <p:sp>
        <p:nvSpPr>
          <p:cNvPr id="13" name="Text 11"/>
          <p:cNvSpPr/>
          <p:nvPr/>
        </p:nvSpPr>
        <p:spPr>
          <a:xfrm>
            <a:off x="9962674" y="3754279"/>
            <a:ext cx="2890242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High-Value Predictability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9962674" y="4213622"/>
            <a:ext cx="3627953" cy="1344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Our most valuable customer segments demonstrate </a:t>
            </a:r>
            <a:r>
              <a:rPr lang="en-US" sz="16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significantly higher behavioral predictability</a:t>
            </a:r>
            <a:r>
              <a:rPr lang="en-US" sz="1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enabling targeted strategies.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90988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Purchase Propensity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407229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Predictive Indicator:</a:t>
            </a: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Quantifies the likelihood of a customer's future purchase.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51449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Data-Driven Insights:</a:t>
            </a: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Derived from comprehensive analysis of historical behavior patterns and interactions.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95669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Strategic Foundation:</a:t>
            </a: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Serves as a critical input for advanced predictive modeling and targeted strategic initiatives.</a:t>
            </a:r>
            <a:endParaRPr lang="en-US" sz="1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2647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Business Use Cases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488883"/>
            <a:ext cx="6407944" cy="2093714"/>
          </a:xfrm>
          <a:prstGeom prst="roundRect">
            <a:avLst>
              <a:gd name="adj" fmla="val 6988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310" y="2488883"/>
            <a:ext cx="121920" cy="2093714"/>
          </a:xfrm>
          <a:prstGeom prst="roundRect">
            <a:avLst>
              <a:gd name="adj" fmla="val 27907"/>
            </a:avLst>
          </a:prstGeom>
          <a:solidFill>
            <a:srgbClr val="2150FE"/>
          </a:solidFill>
          <a:ln/>
        </p:spPr>
      </p:sp>
      <p:sp>
        <p:nvSpPr>
          <p:cNvPr id="5" name="Text 3"/>
          <p:cNvSpPr/>
          <p:nvPr/>
        </p:nvSpPr>
        <p:spPr>
          <a:xfrm>
            <a:off x="1142524" y="274617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Optimized Marketing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2524" y="3236595"/>
            <a:ext cx="58019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Drive efficiency and ROI through highly targeted campaigns, leveraging predictive insights to reach the right customers.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428548" y="2488883"/>
            <a:ext cx="6408063" cy="2093714"/>
          </a:xfrm>
          <a:prstGeom prst="roundRect">
            <a:avLst>
              <a:gd name="adj" fmla="val 6988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98067" y="2488883"/>
            <a:ext cx="121920" cy="2093714"/>
          </a:xfrm>
          <a:prstGeom prst="roundRect">
            <a:avLst>
              <a:gd name="adj" fmla="val 27907"/>
            </a:avLst>
          </a:prstGeom>
          <a:solidFill>
            <a:srgbClr val="2150FE"/>
          </a:solidFill>
          <a:ln/>
        </p:spPr>
      </p:sp>
      <p:sp>
        <p:nvSpPr>
          <p:cNvPr id="9" name="Text 7"/>
          <p:cNvSpPr/>
          <p:nvPr/>
        </p:nvSpPr>
        <p:spPr>
          <a:xfrm>
            <a:off x="7777282" y="274617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Enhanced Retention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77282" y="3236595"/>
            <a:ext cx="58020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Implement proactive strategies to boost customer loyalty, reduce churn, and increase customer lifetime value.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93790" y="4809411"/>
            <a:ext cx="6407944" cy="2093714"/>
          </a:xfrm>
          <a:prstGeom prst="roundRect">
            <a:avLst>
              <a:gd name="adj" fmla="val 6988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3310" y="4809411"/>
            <a:ext cx="121920" cy="2093714"/>
          </a:xfrm>
          <a:prstGeom prst="roundRect">
            <a:avLst>
              <a:gd name="adj" fmla="val 27907"/>
            </a:avLst>
          </a:prstGeom>
          <a:solidFill>
            <a:srgbClr val="2150FE"/>
          </a:solidFill>
          <a:ln/>
        </p:spPr>
      </p:sp>
      <p:sp>
        <p:nvSpPr>
          <p:cNvPr id="13" name="Text 11"/>
          <p:cNvSpPr/>
          <p:nvPr/>
        </p:nvSpPr>
        <p:spPr>
          <a:xfrm>
            <a:off x="1142524" y="5066705"/>
            <a:ext cx="296763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Personalized Experiences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42524" y="5557123"/>
            <a:ext cx="58019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Deliver tailored offers and recommendations, maximizing engagement and conversion rates through individualized customer journeys.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428548" y="4809411"/>
            <a:ext cx="6408063" cy="2093714"/>
          </a:xfrm>
          <a:prstGeom prst="roundRect">
            <a:avLst>
              <a:gd name="adj" fmla="val 6988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98067" y="4809411"/>
            <a:ext cx="121920" cy="2093714"/>
          </a:xfrm>
          <a:prstGeom prst="roundRect">
            <a:avLst>
              <a:gd name="adj" fmla="val 27907"/>
            </a:avLst>
          </a:prstGeom>
          <a:solidFill>
            <a:srgbClr val="2150FE"/>
          </a:solidFill>
          <a:ln/>
        </p:spPr>
      </p:sp>
      <p:sp>
        <p:nvSpPr>
          <p:cNvPr id="17" name="Text 15"/>
          <p:cNvSpPr/>
          <p:nvPr/>
        </p:nvSpPr>
        <p:spPr>
          <a:xfrm>
            <a:off x="7777282" y="50667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Strategic Forecasting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777282" y="5557123"/>
            <a:ext cx="58020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Improve financial planning and resource allocation with accurate, data-driven revenue predictions and trend analysis.</a:t>
            </a:r>
            <a:endParaRPr lang="en-US" sz="1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57676"/>
            <a:ext cx="620351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Strategic Organizational Benefits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793790" y="3214926"/>
            <a:ext cx="6448782" cy="1255871"/>
          </a:xfrm>
          <a:prstGeom prst="roundRect">
            <a:avLst>
              <a:gd name="adj" fmla="val 2167"/>
            </a:avLst>
          </a:prstGeom>
          <a:solidFill>
            <a:srgbClr val="F2EEEE"/>
          </a:solidFill>
          <a:ln/>
        </p:spPr>
      </p:sp>
      <p:sp>
        <p:nvSpPr>
          <p:cNvPr id="4" name="Text 2"/>
          <p:cNvSpPr/>
          <p:nvPr/>
        </p:nvSpPr>
        <p:spPr>
          <a:xfrm>
            <a:off x="975241" y="3396377"/>
            <a:ext cx="324504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Enhanced Marketing Effectiveness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975241" y="3766899"/>
            <a:ext cx="6085880" cy="52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Optimize campaign performance and maximize return on investment (ROI) through targeted insights.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87709" y="3214926"/>
            <a:ext cx="6448901" cy="1255871"/>
          </a:xfrm>
          <a:prstGeom prst="roundRect">
            <a:avLst>
              <a:gd name="adj" fmla="val 2167"/>
            </a:avLst>
          </a:prstGeom>
          <a:solidFill>
            <a:srgbClr val="F2EEEE"/>
          </a:solidFill>
          <a:ln/>
        </p:spPr>
      </p:sp>
      <p:sp>
        <p:nvSpPr>
          <p:cNvPr id="7" name="Text 5"/>
          <p:cNvSpPr/>
          <p:nvPr/>
        </p:nvSpPr>
        <p:spPr>
          <a:xfrm>
            <a:off x="7569160" y="3396377"/>
            <a:ext cx="298073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Strengthened Customer Loyalty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69160" y="3766899"/>
            <a:ext cx="6085999" cy="52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Proactively identify at-risk customers, reducing churn and fostering long-term relationships.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93790" y="4615934"/>
            <a:ext cx="6448782" cy="1255871"/>
          </a:xfrm>
          <a:prstGeom prst="roundRect">
            <a:avLst>
              <a:gd name="adj" fmla="val 2167"/>
            </a:avLst>
          </a:prstGeom>
          <a:solidFill>
            <a:srgbClr val="F2EEEE"/>
          </a:solidFill>
          <a:ln/>
        </p:spPr>
      </p:sp>
      <p:sp>
        <p:nvSpPr>
          <p:cNvPr id="10" name="Text 8"/>
          <p:cNvSpPr/>
          <p:nvPr/>
        </p:nvSpPr>
        <p:spPr>
          <a:xfrm>
            <a:off x="975241" y="4797385"/>
            <a:ext cx="279904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Data-Driven Decision Making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75241" y="5167908"/>
            <a:ext cx="6085880" cy="52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Leverage comprehensive data insights for more informed and agile strategic business choices.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87709" y="4615934"/>
            <a:ext cx="6448901" cy="1255871"/>
          </a:xfrm>
          <a:prstGeom prst="roundRect">
            <a:avLst>
              <a:gd name="adj" fmla="val 2167"/>
            </a:avLst>
          </a:prstGeom>
          <a:solidFill>
            <a:srgbClr val="F2EEEE"/>
          </a:solidFill>
          <a:ln/>
        </p:spPr>
      </p:sp>
      <p:sp>
        <p:nvSpPr>
          <p:cNvPr id="13" name="Text 11"/>
          <p:cNvSpPr/>
          <p:nvPr/>
        </p:nvSpPr>
        <p:spPr>
          <a:xfrm>
            <a:off x="7569160" y="4797385"/>
            <a:ext cx="2821067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Scalable Analytics Framework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7569160" y="5167908"/>
            <a:ext cx="6085999" cy="52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Establish a robust and adaptable infrastructure capable of meeting evolving data and business needs.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6503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Conclusion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327440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4" name="Text 2"/>
          <p:cNvSpPr/>
          <p:nvPr/>
        </p:nvSpPr>
        <p:spPr>
          <a:xfrm>
            <a:off x="1530906" y="3405307"/>
            <a:ext cx="342149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Data-Driven Behavioral Insights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530906" y="4250055"/>
            <a:ext cx="3421499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Our analysis has identified robust customer behavioral patterns, providing a foundational understanding for strategic initiatives.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35893" y="3327440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7" name="Text 5"/>
          <p:cNvSpPr/>
          <p:nvPr/>
        </p:nvSpPr>
        <p:spPr>
          <a:xfrm>
            <a:off x="5973008" y="3405307"/>
            <a:ext cx="342149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Optimized Customer Targeting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973008" y="4250055"/>
            <a:ext cx="342149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Leveraging these insights, we can implement significantly smarter and more effective customer targeting strategies.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77995" y="3327440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0" name="Text 8"/>
          <p:cNvSpPr/>
          <p:nvPr/>
        </p:nvSpPr>
        <p:spPr>
          <a:xfrm>
            <a:off x="10415111" y="3405307"/>
            <a:ext cx="341685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Scalable with ML Integration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415111" y="3895725"/>
            <a:ext cx="3421499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current framework is designed for seamless expansion and future integration with advanced machine learning models, ensuring long-term value.</a:t>
            </a:r>
            <a:endParaRPr lang="en-US" sz="1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6989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Strategic Next Steps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232303"/>
            <a:ext cx="6407944" cy="680442"/>
          </a:xfrm>
          <a:prstGeom prst="roundRect">
            <a:avLst>
              <a:gd name="adj" fmla="val 480029"/>
            </a:avLst>
          </a:prstGeom>
          <a:solidFill>
            <a:srgbClr val="F2EEEE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27621" y="2402324"/>
            <a:ext cx="340162" cy="34016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20604" y="3139559"/>
            <a:ext cx="284726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Advanced Segmentation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0604" y="3629978"/>
            <a:ext cx="59543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Implement RFM (Recency, Frequency, Monetary) segmentation for precise customer targeting.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7428548" y="2232303"/>
            <a:ext cx="6408063" cy="680442"/>
          </a:xfrm>
          <a:prstGeom prst="roundRect">
            <a:avLst>
              <a:gd name="adj" fmla="val 480029"/>
            </a:avLst>
          </a:prstGeom>
          <a:solidFill>
            <a:srgbClr val="F2EEEE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62498" y="2402324"/>
            <a:ext cx="340162" cy="34016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655362" y="31395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Predictive Modeling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7655362" y="3629978"/>
            <a:ext cx="59544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Deploy Machine Learning models, including Logistic Regression, to forecast customer behavior.</a:t>
            </a:r>
            <a:endParaRPr lang="en-US" sz="1750" dirty="0"/>
          </a:p>
        </p:txBody>
      </p:sp>
      <p:sp>
        <p:nvSpPr>
          <p:cNvPr id="11" name="Shape 7"/>
          <p:cNvSpPr/>
          <p:nvPr/>
        </p:nvSpPr>
        <p:spPr>
          <a:xfrm>
            <a:off x="793790" y="4809411"/>
            <a:ext cx="6407944" cy="680442"/>
          </a:xfrm>
          <a:prstGeom prst="roundRect">
            <a:avLst>
              <a:gd name="adj" fmla="val 480029"/>
            </a:avLst>
          </a:prstGeom>
          <a:solidFill>
            <a:srgbClr val="F2EEEE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827621" y="4979432"/>
            <a:ext cx="340162" cy="34016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20604" y="571666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Real-time Propensity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1020604" y="6207085"/>
            <a:ext cx="59543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Develop and integrate real-time propensity scoring to identify immediate conversion opportunities.</a:t>
            </a:r>
            <a:endParaRPr lang="en-US" sz="1750" dirty="0"/>
          </a:p>
        </p:txBody>
      </p:sp>
      <p:sp>
        <p:nvSpPr>
          <p:cNvPr id="15" name="Shape 10"/>
          <p:cNvSpPr/>
          <p:nvPr/>
        </p:nvSpPr>
        <p:spPr>
          <a:xfrm>
            <a:off x="7428548" y="4809411"/>
            <a:ext cx="6408063" cy="680442"/>
          </a:xfrm>
          <a:prstGeom prst="roundRect">
            <a:avLst>
              <a:gd name="adj" fmla="val 480029"/>
            </a:avLst>
          </a:prstGeom>
          <a:solidFill>
            <a:srgbClr val="F2EEEE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462498" y="4979432"/>
            <a:ext cx="340162" cy="34016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655362" y="571666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Integrated Dashboards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7655362" y="6207085"/>
            <a:ext cx="59544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Integrate key insights into executive dashboards for comprehensive, actionable oversight.</a:t>
            </a:r>
            <a:endParaRPr lang="en-US" sz="175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TM03457510[[fn=Savon]]</Template>
  <TotalTime>414</TotalTime>
  <Words>839</Words>
  <Application>Microsoft Office PowerPoint</Application>
  <PresentationFormat>Custom</PresentationFormat>
  <Paragraphs>121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Garamond</vt:lpstr>
      <vt:lpstr>Century Gothic</vt:lpstr>
      <vt:lpstr>Crimson Pro Light</vt:lpstr>
      <vt:lpstr>Crimson Pro Semi Bold</vt:lpstr>
      <vt:lpstr>Heebo</vt:lpstr>
      <vt:lpstr>Savon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Dnyanesh Gawade</dc:creator>
  <cp:lastModifiedBy>Dnyanesh Gawade</cp:lastModifiedBy>
  <cp:revision>2</cp:revision>
  <dcterms:created xsi:type="dcterms:W3CDTF">2026-01-17T05:01:42Z</dcterms:created>
  <dcterms:modified xsi:type="dcterms:W3CDTF">2026-01-17T11:57:13Z</dcterms:modified>
</cp:coreProperties>
</file>