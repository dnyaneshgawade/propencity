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4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4630400" cy="8229600"/>
  <p:notesSz cx="8229600" cy="146304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rimson Pro Semi Bold" panose="020B0604020202020204" charset="0"/>
      <p:regular r:id="rId21"/>
    </p:embeddedFont>
    <p:embeddedFont>
      <p:font typeface="Garamond" panose="02020404030301010803" pitchFamily="18" charset="0"/>
      <p:regular r:id="rId22"/>
      <p:bold r:id="rId23"/>
      <p:italic r:id="rId24"/>
    </p:embeddedFont>
    <p:embeddedFont>
      <p:font typeface="Heebo" pitchFamily="2" charset="-79"/>
      <p:regular r:id="rId25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9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737361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050" y="2509516"/>
            <a:ext cx="10882303" cy="310896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8640" b="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4520" y="5618475"/>
            <a:ext cx="10885018" cy="54864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920" spc="96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1920"/>
            </a:lvl2pPr>
            <a:lvl3pPr marL="1097280" indent="0" algn="ctr">
              <a:buNone/>
              <a:defRPr sz="192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6382512" y="1609506"/>
            <a:ext cx="1865376" cy="632656"/>
          </a:xfrm>
        </p:spPr>
        <p:txBody>
          <a:bodyPr/>
          <a:lstStyle>
            <a:lvl1pPr algn="ctr">
              <a:defRPr sz="156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923F103-BC34-4FE4-A40E-EDDEECFDA5D0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744675" y="6253272"/>
            <a:ext cx="7086600" cy="27432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0328304" y="6254496"/>
            <a:ext cx="2534257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96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166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737360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347" y="2513171"/>
            <a:ext cx="10885018" cy="310530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864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6349" y="5618474"/>
            <a:ext cx="10885018" cy="54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>
                <a:solidFill>
                  <a:schemeClr val="tx1"/>
                </a:solidFill>
                <a:effectLst/>
              </a:defRPr>
            </a:lvl1pPr>
            <a:lvl2pPr marL="5486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86170" y="1613403"/>
            <a:ext cx="1865376" cy="636422"/>
          </a:xfrm>
        </p:spPr>
        <p:txBody>
          <a:bodyPr/>
          <a:lstStyle>
            <a:lvl1pPr algn="ctr">
              <a:defRPr lang="en-US" sz="156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34E6425-0181-43F2-84FC-787E803FD2F8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4264" y="6253272"/>
            <a:ext cx="708842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5405" y="6253272"/>
            <a:ext cx="2534717" cy="27432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83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44384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340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3818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  <a:latin typeface="+mn-lt"/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3818" y="3307078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8042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8042" y="3307897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494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050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97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94635" y="285293"/>
            <a:ext cx="10237622" cy="76590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8870"/>
            <a:ext cx="2916936" cy="1975104"/>
          </a:xfrm>
        </p:spPr>
        <p:txBody>
          <a:bodyPr anchor="b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6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731520"/>
            <a:ext cx="9326880" cy="640080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6936" cy="420624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2472412" y="7467602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28065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4205"/>
            <a:ext cx="2918765" cy="1975104"/>
          </a:xfrm>
        </p:spPr>
        <p:txBody>
          <a:bodyPr anchor="b">
            <a:noAutofit/>
          </a:bodyPr>
          <a:lstStyle>
            <a:lvl1pPr algn="l">
              <a:defRPr sz="336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319" y="285293"/>
            <a:ext cx="10237622" cy="765901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8765" cy="420258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5E72C73-2D91-4E12-BA25-F0AA0C03599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097280" rtl="0" eaLnBrk="1" latinLnBrk="0" hangingPunct="1">
              <a:defRPr lang="en-US" sz="12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476074" y="7472477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38679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92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89920" y="914400"/>
            <a:ext cx="2834640" cy="6309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914400"/>
            <a:ext cx="9692640" cy="6309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2729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955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26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832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032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71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4022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332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531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921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0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290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163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8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1635" y="285293"/>
            <a:ext cx="14067130" cy="765901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771113"/>
            <a:ext cx="1207008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523744"/>
            <a:ext cx="12070080" cy="471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184" y="7569206"/>
            <a:ext cx="3291840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7952" y="7569206"/>
            <a:ext cx="6254496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63856" y="7569206"/>
            <a:ext cx="1755648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76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19456" indent="-219456" algn="l" defTabSz="1097280" rtl="0" eaLnBrk="1" latinLnBrk="0" hangingPunct="1">
        <a:lnSpc>
          <a:spcPct val="100000"/>
        </a:lnSpc>
        <a:spcBef>
          <a:spcPts val="10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40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9213" y="870028"/>
            <a:ext cx="92482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Purchase Propensity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Objective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 advanced analytics to precisely understand and predict customer purchasing behavior.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Focus Area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Driving impactful insights specifically for the retail and e-commerce sectors.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Expected Outcome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data-driven, actionable recommendations to optimize marketing and customer retention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95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Inaccurate Repurchase Prediction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5740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Retailers struggle to precisely identify customers most likely to make future purchases.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9276"/>
            <a:ext cx="3383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Inefficient Marketing Spend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969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Generic marketing campaigns result in low return on investment and customer fatigue.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Absence of Targeted Engagement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5740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data-driven segmentation hinders the creation of personalized customer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Online Retail Transaction Data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Timeframe: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2009 – 2011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Volume: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1 Million Transactions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Features: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Invoice, Quantity, Price, Date, Customer ID, Country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Data Challenges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240601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109079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Incomplete Customer Data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customer IDs impede effective segmentation and personalized marketing initiatives.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371" y="2406015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Negative Quantities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Inconsistent recording of returns as negative quantities introduces data integrity and reconciliation complexities.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1614" y="5013484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Duplicate Invoices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Presence of duplicate invoices artificially inflates transaction volumes and distorts sales reporting.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6371" y="5013484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Anomalous Values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Significant outliers in price and quantity metrics can skew analytical results and impact predictive models.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2434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Cleaning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4192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Eliminated Cancelled Transactions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Systematically removed all voided or cancelled records to ensure data integrity and accuracy in financial reporting.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14901"/>
            <a:ext cx="36091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Rectified Data Inconsistencies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Addressed missing values through imputation and corrected invalid entries, significantly enhancing data reliability.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57311"/>
            <a:ext cx="3640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Standardized Date Formatting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Uniformly converted all invoice dates to a consistent datetime format, enabling robust temporal analysis.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157311"/>
            <a:ext cx="3085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Isolated Key Transactions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Applied rigorous filtering criteria to focus exclusively on meaningful transactions, optimizing data relevance for strategic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1956"/>
            <a:ext cx="61056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Exploratory Data Analysis (EDA)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169206"/>
            <a:ext cx="6448782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169206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066681" y="337351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Market Drivers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66681" y="3744039"/>
            <a:ext cx="59715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Identified top-performing products and high-potential geographic markets, informing strategic focus.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87709" y="3169206"/>
            <a:ext cx="644890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4849" y="3169206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660600" y="337351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Sales Trend Insights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0600" y="3744039"/>
            <a:ext cx="59716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Uncovered significant monthly and annual sales patterns, crucial for accurate forecasting and resource allocation.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3790" y="4615934"/>
            <a:ext cx="6448782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615934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681" y="482024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Seasonal Demand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66681" y="5190768"/>
            <a:ext cx="59715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Confirmed strong seasonality in purchasing behavior, enabling optimized inventory and marketing campaign timing.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87709" y="4615934"/>
            <a:ext cx="644890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4849" y="4615934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660600" y="4820245"/>
            <a:ext cx="31667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Revenue Concentration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0600" y="5190768"/>
            <a:ext cx="59716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Highlighted a substantial concentration of revenue among a select group of high-value customers, indicating potential risks and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353"/>
            <a:ext cx="1032629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Feature Engineering: Driving Predictive Power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815108"/>
            <a:ext cx="6419017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1845588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39654" y="2696647"/>
            <a:ext cx="2276356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37" y="2809399"/>
            <a:ext cx="172283" cy="172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7202" y="2761178"/>
            <a:ext cx="1759625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BEHAVIOR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39654" y="317634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Detailed Aggregation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654" y="3635693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Consolidating customer interactions and attributes at a granular level to build comprehensive profiles.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17475" y="1815108"/>
            <a:ext cx="6419136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47955" y="1845588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7663339" y="2696647"/>
            <a:ext cx="2415064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2522" y="2809399"/>
            <a:ext cx="172283" cy="1722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50887" y="2761178"/>
            <a:ext cx="189833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 METRICS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663339" y="317634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Purchase Frequency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663339" y="3635693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Analyzing the regularity of transactions to identify active customer segments and predict future engagement.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793790" y="4758452"/>
            <a:ext cx="6419017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270" y="4788932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9" name="Shape 15"/>
          <p:cNvSpPr/>
          <p:nvPr/>
        </p:nvSpPr>
        <p:spPr>
          <a:xfrm>
            <a:off x="1039654" y="5639991"/>
            <a:ext cx="2041088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837" y="5752743"/>
            <a:ext cx="172283" cy="1722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27202" y="5704523"/>
            <a:ext cx="152435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039654" y="61196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Contribution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1039654" y="6579037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Quantifying the monetary value each customer brings, enabling targeted strategies for high-value segments.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7417475" y="4758452"/>
            <a:ext cx="6419136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47955" y="4788932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6" name="Shape 21"/>
          <p:cNvSpPr/>
          <p:nvPr/>
        </p:nvSpPr>
        <p:spPr>
          <a:xfrm>
            <a:off x="7663339" y="5639991"/>
            <a:ext cx="2093238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2522" y="5752743"/>
            <a:ext cx="172283" cy="1722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50887" y="5704523"/>
            <a:ext cx="157650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PATTERNING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663339" y="61196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Recency &amp; Monetary</a:t>
            </a:r>
            <a:endParaRPr lang="en-US" sz="2100" dirty="0"/>
          </a:p>
        </p:txBody>
      </p:sp>
      <p:sp>
        <p:nvSpPr>
          <p:cNvPr id="30" name="Text 24"/>
          <p:cNvSpPr/>
          <p:nvPr/>
        </p:nvSpPr>
        <p:spPr>
          <a:xfrm>
            <a:off x="7663339" y="6579037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Extracting critical patterns from recent activities and spending habits to inform customer lifetime value models.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660"/>
            <a:ext cx="620708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Behavior Insights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31094" y="37542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Drivers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3109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critical minority of customers generates the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majority of our revenue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indicating a concentrated value base.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20958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10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46884" y="37542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Repeat Buyer Behavior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4688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purchasers exhibit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and predictable purchasing cycles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offering clear opportunities for re-engagement.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2537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489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2674" y="3754279"/>
            <a:ext cx="289024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High-Value Predictability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6267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most valuable customer segments demonstrate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significantly higher behavioral predictability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enabling targeted strategies.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Purchase Propensity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Indicator: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Quantifies the likelihood of a customer's future purchase.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Insights: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Derived from comprehensive analysis of historical behavior patterns and interactions.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Foundation: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Serves as a critical input for advanced predictive modeling and targeted strategic initiatives.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Use Cases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Optimized Marketing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 efficiency and ROI through highly targeted campaigns, leveraging predictive insights to reach the right customers.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8888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Retention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proactive strategies to boost customer loyalty, reduce churn, and increase customer lifetime value.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9676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Personalized Experiences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tailored offers and recommendations, maximizing engagement and conversion rates through individualized customer journeys.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Forecasting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financial planning and resource allocation with accurate, data-driven revenue predictions and trend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7676"/>
            <a:ext cx="62035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Organizational Benefits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214926"/>
            <a:ext cx="6448782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75241" y="3396377"/>
            <a:ext cx="324504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Marketing Effectiveness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75241" y="3766899"/>
            <a:ext cx="60858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Optimize campaign performance and maximize return on investment (ROI) through targeted insights.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87709" y="3214926"/>
            <a:ext cx="6448901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569160" y="3396377"/>
            <a:ext cx="298073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Strengthened Customer Loyalty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69160" y="3766899"/>
            <a:ext cx="60859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Proactively identify at-risk customers, reducing churn and fostering long-term relationships.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4615934"/>
            <a:ext cx="6448782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75241" y="4797385"/>
            <a:ext cx="27990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Decision Making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5241" y="5167908"/>
            <a:ext cx="60858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 comprehensive data insights for more informed and agile strategic business choices.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87709" y="4615934"/>
            <a:ext cx="6448901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569160" y="4797385"/>
            <a:ext cx="282106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Scalable Analytics Framework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69160" y="5167908"/>
            <a:ext cx="60859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Establish a robust and adaptable infrastructure capable of meeting evolving data and business needs.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5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Behavioral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25005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analysis has identified robust customer behavioral patterns, providing a foundational understanding for strategic initiatives.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973008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Optimized Customer Targeting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425005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Leveraging these insights, we can implement significantly smarter and more effective customer targeting strategies.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15111" y="3405307"/>
            <a:ext cx="341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Scalable with ML Integration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89572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current framework is designed for seamless expansion and future integration with advanced machine learning models, ensuring long-term value.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98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Next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32303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2402324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139559"/>
            <a:ext cx="28472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Segmentation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RFM (Recency, Frequency, Monetary) segmentation for precise customer targeting.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232303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2402324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Machine Learning models, including Logistic Regression, to forecast customer behavior.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7621" y="4979432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0604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Propensity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20604" y="620708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and integrate real-time propensity scoring to identify immediate conversion opportunities.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2498" y="4979432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55362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Dashboards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655362" y="620708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key insights into executive dashboards for comprehensive, actionable oversight.</a:t>
            </a:r>
            <a:endParaRPr lang="en-US" sz="17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414</TotalTime>
  <Words>839</Words>
  <Application>Microsoft Office PowerPoint</Application>
  <PresentationFormat>Custom</PresentationFormat>
  <Paragraphs>121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Garamond</vt:lpstr>
      <vt:lpstr>Century Gothic</vt:lpstr>
      <vt:lpstr>Crimson Pro Light</vt:lpstr>
      <vt:lpstr>Crimson Pro Semi Bold</vt:lpstr>
      <vt:lpstr>Heebo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Dnyanesh Gawade</cp:lastModifiedBy>
  <cp:revision>2</cp:revision>
  <dcterms:created xsi:type="dcterms:W3CDTF">2026-01-17T05:01:42Z</dcterms:created>
  <dcterms:modified xsi:type="dcterms:W3CDTF">2026-01-17T11:56:42Z</dcterms:modified>
</cp:coreProperties>
</file>